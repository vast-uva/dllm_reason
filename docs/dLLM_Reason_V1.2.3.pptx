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308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4EC9B0"/>
                </a:solidFill>
                <a:latin typeface="Segoe UI"/>
              </a:defRPr>
            </a:pPr>
            <a:r>
              <a:t>dLLM-Reason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FFFFFF"/>
                </a:solidFill>
                <a:latin typeface="Segoe UI"/>
              </a:defRPr>
            </a:pPr>
            <a:r>
              <a:t>DAG-Guided Discrete Diffusion LMs for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4753" y="3383280"/>
            <a:ext cx="3342494" cy="548640"/>
          </a:xfrm>
          <a:prstGeom prst="round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v1.2.3  Feature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LLaDA Inference Fixes  ·  Official Sampling Algorithm</a:t>
            </a:r>
          </a:p>
          <a:p>
            <a:pPr>
              <a:spcBef>
                <a:spcPts val="400"/>
              </a:spcBef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Unified Eval Pipeline  ·  8 Unmasking Strategies</a:t>
            </a:r>
          </a:p>
          <a:p>
            <a:pPr>
              <a:spcBef>
                <a:spcPts val="400"/>
              </a:spcBef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Per-Sample Output Saving (JSON + Excel + Trajectory)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9B0"/>
                </a:solidFill>
                <a:latin typeface="Segoe UI"/>
              </a:defRPr>
            </a:pPr>
            <a:r>
              <a:t>v1.2.3  New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669280" cy="25146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669280" cy="475488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🔧 LLaDA Inference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▸  Correct mask_token_id from model.config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apply_chat_template(return_tensors='pt') — no double-BOS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System prompt prepended to user message (no 'system' role)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temperature=0 → direct argmax, not logits/1e-6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960120"/>
            <a:ext cx="5669280" cy="25146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960120"/>
            <a:ext cx="5669280" cy="475488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⚡ Official Sampling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▸  Gumbel noise + argmax (matches GSAI-ML reference)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Block-wise denoising: gen_length / block_length blocks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Confidence-based remasking (low_confidence | random)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Optional CFG support (cfg_scale &gt;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669280" cy="25146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669280" cy="475488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📊 Unified Eval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▸  YAML config as single source of truth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CLI flags always override config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8 benchmarks  ·  8 DAG strategies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resume, verbose_errors, run_tests flags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669280" cy="25146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669280" cy="475488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💾 Per-Sample Output Saving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▸  --save_outputs master switch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QA pairs + ground truth per sample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JSON + Excel (openpyxl) output files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▸  Optional trajectory recording (--record_trajectory)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C05050"/>
                </a:solidFill>
                <a:latin typeface="Segoe UI"/>
              </a:defRPr>
            </a:pPr>
            <a:r>
              <a:t>LLaDA Inference: Critical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99"/>
                </a:solidFill>
                <a:latin typeface="Segoe UI"/>
              </a:defRPr>
            </a:pPr>
            <a:r>
              <a:t>All four bugs caused silent wrong output (wrong tokens, all-EOS, empty string). Fixed by matching the GSAI-ML reference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320040"/>
          </a:xfrm>
          <a:prstGeom prst="roundRect">
            <a:avLst/>
          </a:prstGeom>
          <a:solidFill>
            <a:srgbClr val="3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05050"/>
                </a:solidFill>
                <a:latin typeface="Segoe UI"/>
              </a:defRPr>
            </a:pPr>
            <a:r>
              <a:t>mask_token_id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81912"/>
            <a:ext cx="5394960" cy="960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05050"/>
                </a:solidFill>
                <a:latin typeface="Segoe UI"/>
              </a:defRPr>
            </a:pPr>
            <a:r>
              <a:t>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08080"/>
                </a:solidFill>
                <a:latin typeface="Consolas"/>
              </a:defRPr>
            </a:pPr>
            <a:r>
              <a:t>tokenizer.mask_token_id → &lt;|eot_id|&gt; (id 128009)</a:t>
            </a:r>
            <a:br/>
            <a:r>
              <a:t>or &lt;|startoftext|&gt; (id 126080)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81912"/>
            <a:ext cx="5303520" cy="96012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0B070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0E0A0"/>
                </a:solidFill>
                <a:latin typeface="Consolas"/>
              </a:defRPr>
            </a:pPr>
            <a:r>
              <a:t>Read from model.config.mask_token_id</a:t>
            </a:r>
            <a:br/>
            <a:r>
              <a:t>→ &lt;|mdm_mask|&gt; (id 126347) 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24328"/>
            <a:ext cx="11247120" cy="320040"/>
          </a:xfrm>
          <a:prstGeom prst="roundRect">
            <a:avLst/>
          </a:prstGeom>
          <a:solidFill>
            <a:srgbClr val="3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05050"/>
                </a:solidFill>
                <a:latin typeface="Segoe UI"/>
              </a:defRPr>
            </a:pPr>
            <a:r>
              <a:t>Double-BOS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394960" cy="960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05050"/>
                </a:solidFill>
                <a:latin typeface="Segoe UI"/>
              </a:defRPr>
            </a:pPr>
            <a:r>
              <a:t>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08080"/>
                </a:solidFill>
                <a:latin typeface="Consolas"/>
              </a:defRPr>
            </a:pPr>
            <a:r>
              <a:t>tokenizer.encode(</a:t>
            </a:r>
            <a:br/>
            <a:r>
              <a:t>  apply_chat_template(tokenize=False)</a:t>
            </a:r>
            <a:br/>
            <a:r>
              <a:t>) → prepended BOS twice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2724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5303520" cy="96012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0B070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6440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0E0A0"/>
                </a:solidFill>
                <a:latin typeface="Consolas"/>
              </a:defRPr>
            </a:pPr>
            <a:r>
              <a:t>apply_chat_template(</a:t>
            </a:r>
            <a:br/>
            <a:r>
              <a:t>  messages, return_tensors='pt'</a:t>
            </a:r>
            <a:br/>
            <a:r>
              <a:t>)  ✓  — direct tensor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14216"/>
            <a:ext cx="11247120" cy="320040"/>
          </a:xfrm>
          <a:prstGeom prst="roundRect">
            <a:avLst/>
          </a:prstGeom>
          <a:solidFill>
            <a:srgbClr val="3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05050"/>
                </a:solidFill>
                <a:latin typeface="Segoe UI"/>
              </a:defRPr>
            </a:pPr>
            <a:r>
              <a:t>System prompt malformed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61688"/>
            <a:ext cx="5394960" cy="960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361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05050"/>
                </a:solidFill>
                <a:latin typeface="Segoe UI"/>
              </a:defRPr>
            </a:pPr>
            <a:r>
              <a:t>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5429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08080"/>
                </a:solidFill>
                <a:latin typeface="Consolas"/>
              </a:defRPr>
            </a:pPr>
            <a:r>
              <a:t>messages=[{'role':'system', ...}]</a:t>
            </a:r>
            <a:br/>
            <a:r>
              <a:t>→ LLaDA tokenizer ignores system role,</a:t>
            </a:r>
            <a:br/>
            <a:r>
              <a:t>  chat template broken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517136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361688"/>
            <a:ext cx="5303520" cy="96012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361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0B070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5429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0E0A0"/>
                </a:solidFill>
                <a:latin typeface="Consolas"/>
              </a:defRPr>
            </a:pPr>
            <a:r>
              <a:t>user_content = f'{sys}\n\n{prompt}'</a:t>
            </a:r>
            <a:br/>
            <a:r>
              <a:t>messages=[{'role':'user', 'content':user_content}] 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04104"/>
            <a:ext cx="11247120" cy="320040"/>
          </a:xfrm>
          <a:prstGeom prst="roundRect">
            <a:avLst/>
          </a:prstGeom>
          <a:solidFill>
            <a:srgbClr val="3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05050"/>
                </a:solidFill>
                <a:latin typeface="Segoe UI"/>
              </a:defRPr>
            </a:pPr>
            <a:r>
              <a:t>temperature=0 overflow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51576"/>
            <a:ext cx="5394960" cy="960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7515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05050"/>
                </a:solidFill>
                <a:latin typeface="Segoe UI"/>
              </a:defRPr>
            </a:pPr>
            <a:r>
              <a:t>BUG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44184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08080"/>
                </a:solidFill>
                <a:latin typeface="Consolas"/>
              </a:defRPr>
            </a:pPr>
            <a:r>
              <a:t>logits / max(temperature, 1e-6)</a:t>
            </a:r>
            <a:br/>
            <a:r>
              <a:t>→ at temperature=0, division by 1e-6</a:t>
            </a:r>
            <a:br/>
            <a:r>
              <a:t>  → NaN/overflow in logits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907024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751576"/>
            <a:ext cx="5303520" cy="96012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57515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0B070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04418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0E0A0"/>
                </a:solidFill>
                <a:latin typeface="Consolas"/>
              </a:defRPr>
            </a:pPr>
            <a:r>
              <a:t>if temperature == 0:</a:t>
            </a:r>
            <a:br/>
            <a:r>
              <a:t>    return logits.argmax()  # direct</a:t>
            </a:r>
            <a:br/>
            <a:r>
              <a:t>else: add Gumbel noise 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69CD6"/>
                </a:solidFill>
                <a:latin typeface="Segoe UI"/>
              </a:defRPr>
            </a:pPr>
            <a:r>
              <a:t>Official LLaDA Block-Wise 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347472" cy="347472"/>
          </a:xfrm>
          <a:prstGeom prst="round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Fill generation area with &lt;|mdm_mask|&gt;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9344"/>
            <a:ext cx="347472" cy="347472"/>
          </a:xfrm>
          <a:prstGeom prst="round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Divide into num_blocks = max_new_tokens / block_length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1136"/>
            <a:ext cx="347472" cy="347472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For each block, run steps_per_block sub-steps: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52928"/>
            <a:ext cx="347472" cy="347472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onsolas"/>
              </a:defRPr>
            </a:pPr>
            <a:r>
              <a:t>  Forward pass → logits (shape: B × L × 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47472" cy="347472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0156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onsolas"/>
              </a:defRPr>
            </a:pPr>
            <a:r>
              <a:t>  Add Gumbel noise scaled by temperature → x̂₀ = argmax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96512"/>
            <a:ext cx="347472" cy="347472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onsolas"/>
              </a:defRPr>
            </a:pPr>
            <a:r>
              <a:t>  Compute confidence = softmax(logits)[x̂₀]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18304"/>
            <a:ext cx="347472" cy="347472"/>
          </a:xfrm>
          <a:prstGeom prst="round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4515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onsolas"/>
              </a:defRPr>
            </a:pPr>
            <a:r>
              <a:t>  Commit top-k positions (highest confidence) in this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0096"/>
            <a:ext cx="347472" cy="347472"/>
          </a:xfrm>
          <a:prstGeom prst="round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66944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onsolas"/>
              </a:defRPr>
            </a:pPr>
            <a:r>
              <a:t>  Remask low-confidence tokens (low_confidence mode)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61888"/>
            <a:ext cx="347472" cy="347472"/>
          </a:xfrm>
          <a:prstGeom prst="round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88736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Force-fill any remaining masks at end (safety net)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868680"/>
            <a:ext cx="4023360" cy="56235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914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4EC9B0"/>
                </a:solidFill>
                <a:latin typeface="Segoe UI"/>
              </a:defRPr>
            </a:pPr>
            <a:r>
              <a:t>Visual: 3 blocks, 4 steps 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463040"/>
            <a:ext cx="3840480" cy="27432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14630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Block 0  (steps 0–3)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1810512"/>
            <a:ext cx="822960" cy="100584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1" y="183794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5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63763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89950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6137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42324" y="210312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68511" y="210312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5400" y="1810512"/>
            <a:ext cx="822960" cy="100584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2832" y="183794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1976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78163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04350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30537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56724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82911" y="210312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29800" y="1810512"/>
            <a:ext cx="822960" cy="100584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57232" y="183794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6376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92563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18750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244937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371124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497311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744200" y="1810512"/>
            <a:ext cx="822960" cy="100584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771632" y="183794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0776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906963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033150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159337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285524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411711" y="2103120"/>
            <a:ext cx="109728" cy="59436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955279" y="3200400"/>
            <a:ext cx="3840480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01000" y="3200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Block 1  (steps 4–7)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1000" y="3547872"/>
            <a:ext cx="82296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28431" y="357530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37575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63763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89950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416137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42324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668511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915400" y="3547872"/>
            <a:ext cx="82296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2832" y="357530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51976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078163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204350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330537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456724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82911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829800" y="3547872"/>
            <a:ext cx="82296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857232" y="357530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66376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992563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118750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244937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371124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497311" y="3840480"/>
            <a:ext cx="109728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744200" y="3547872"/>
            <a:ext cx="822960" cy="100584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771632" y="3575303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99"/>
                </a:solidFill>
                <a:latin typeface="Segoe UI"/>
              </a:defRPr>
            </a:pPr>
            <a:r>
              <a:rPr dirty="0"/>
              <a:t>step 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80776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906963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33150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59337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85524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411711" y="384048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955279" y="4937760"/>
            <a:ext cx="3840480" cy="27432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001000" y="4937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Block 2  (steps 8–11)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01000" y="5285232"/>
            <a:ext cx="822960" cy="100584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028431" y="531266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37575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163763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289950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8416137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542324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668511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15400" y="5285232"/>
            <a:ext cx="822960" cy="100584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942832" y="531266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51976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078163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204350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330537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456724" y="5577840"/>
            <a:ext cx="109728" cy="59436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582911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29800" y="5285232"/>
            <a:ext cx="822960" cy="100584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57232" y="531266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99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866376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9992563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118750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244937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371124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497311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744200" y="5285232"/>
            <a:ext cx="822960" cy="100584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0771632" y="531266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99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780776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0906963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1033150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1159337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1285524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1411711" y="5577840"/>
            <a:ext cx="109728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9B0"/>
                </a:solidFill>
                <a:latin typeface="Segoe UI"/>
              </a:defRPr>
            </a:pPr>
            <a:r>
              <a:t>8 Unmasking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88899"/>
                </a:solidFill>
                <a:latin typeface="Consolas"/>
              </a:defRPr>
            </a:pPr>
            <a:r>
              <a:t>All available via --dags flag or in configs/eval_default.yaml under dags:  dags: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7043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2788920" cy="41148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16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scripts/runs/confidence.sh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4767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Highest-confidence tokens first at each step.</a:t>
            </a:r>
            <a:br/>
            <a:r>
              <a:t>LLaDA's default behaviour — strong baseline.</a:t>
            </a:r>
            <a:br/>
            <a:r>
              <a:t>No DAG object; uses ConfidenceScheduler.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17043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4408" y="1170432"/>
            <a:ext cx="2788920" cy="411480"/>
          </a:xfrm>
          <a:prstGeom prst="rect">
            <a:avLst/>
          </a:prstGeom>
          <a:solidFill>
            <a:srgbClr val="9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216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scripts/runs/random.sh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4767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Uniform random selection from masked positions.</a:t>
            </a:r>
            <a:br/>
            <a:r>
              <a:t>Stochastic baseline for comparison.</a:t>
            </a:r>
            <a:br/>
            <a:r>
              <a:t>Uses RandomScheduler.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17043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170432"/>
            <a:ext cx="2788920" cy="4114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1216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scripts/runs/linear.sh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94767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Left-to-right sequential unmasking.</a:t>
            </a:r>
            <a:br/>
            <a:r>
              <a:t>Mimics autoregressive generation order.</a:t>
            </a:r>
            <a:br/>
            <a:r>
              <a:t>Uses LinearScheduler.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17043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53144" y="1170432"/>
            <a:ext cx="2788920" cy="4114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4584" y="1216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scripts/runs/empty.sh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194767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No structural constraint — purely random order.</a:t>
            </a:r>
            <a:br/>
            <a:r>
              <a:t>Standard LLaDA generation as-is.</a:t>
            </a:r>
            <a:br/>
            <a:r>
              <a:t>Uses RandomScheduler (same as 'random').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86791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867912"/>
            <a:ext cx="2788920" cy="411480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3913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cot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3434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scripts/runs/cot.sh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64515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Chain-of-Thought DAG: cot_steps segments.</a:t>
            </a:r>
            <a:br/>
            <a:r>
              <a:t>Each segment depends on all prior segments.</a:t>
            </a:r>
            <a:br/>
            <a:r>
              <a:t>cot_steps default: 4  (--cot_steps N to change).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386791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64408" y="3867912"/>
            <a:ext cx="2788920" cy="41148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55848" y="3913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skeleton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3434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scripts/runs/skeleton.sh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464515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Skeleton-then-Detail: every 3rd token is 'structural'.</a:t>
            </a:r>
            <a:br/>
            <a:r>
              <a:t>Structural positions unmask before detail positions.</a:t>
            </a:r>
            <a:br/>
            <a:r>
              <a:t>Good for code / structured outputs.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6791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08776" y="3867912"/>
            <a:ext cx="2788920" cy="41148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0216" y="3913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bidirectional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3434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scripts/runs/bidirectional.sh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64515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4 segments; both ends unmask toward the center.</a:t>
            </a:r>
            <a:br/>
            <a:r>
              <a:t>Captures global context from both directions.</a:t>
            </a:r>
            <a:br/>
            <a:r>
              <a:t>Uses DAGScheduler + bidirectional_dag template.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3867912"/>
            <a:ext cx="2788920" cy="25420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53144" y="3867912"/>
            <a:ext cx="2788920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39136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answer_first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43434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scripts/runs/answer_first.sh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464515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Last 20% of positions = answer region.</a:t>
            </a:r>
            <a:br/>
            <a:r>
              <a:t>Answer tokens unmask before reasoning chain.</a:t>
            </a:r>
            <a:br/>
            <a:r>
              <a:t>Useful for benchmarks where answer is a short span.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DCAA"/>
                </a:solidFill>
                <a:latin typeface="Segoe UI"/>
              </a:defRPr>
            </a:pPr>
            <a:r>
              <a:t>Parameter Reference  (1/2) — Model · Inference ·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  <a:latin typeface="Segoe UI"/>
              </a:defRPr>
            </a:pPr>
            <a:r>
              <a:t>Set in configs/eval_default.yaml  ·  Override with CLI flag  ·  CLI always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8872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59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143000"/>
            <a:ext cx="192024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170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Segoe UI"/>
              </a:defRPr>
            </a:pPr>
            <a:r>
              <a:t>Parameter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143000"/>
            <a:ext cx="201168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DCAA"/>
                </a:solidFill>
                <a:latin typeface="Segoe UI"/>
              </a:defRPr>
            </a:pPr>
            <a:r>
              <a:t>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143000"/>
            <a:ext cx="228600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170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CLI Flag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143000"/>
            <a:ext cx="429768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1704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Segoe UI"/>
              </a:defRPr>
            </a:pPr>
            <a:r>
              <a:t>Choices /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72184"/>
            <a:ext cx="118872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9" y="1499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472184"/>
            <a:ext cx="192024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1499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model_id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472184"/>
            <a:ext cx="201168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499616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rPr dirty="0"/>
              <a:t>checkpoints/</a:t>
            </a:r>
            <a:r>
              <a:rPr dirty="0" err="1"/>
              <a:t>llada</a:t>
            </a:r>
            <a:r>
              <a:rPr dirty="0"/>
              <a:t>-instruct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1472184"/>
            <a:ext cx="228600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1499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--model_id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472184"/>
            <a:ext cx="429768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1499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Local path or HF model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801368"/>
            <a:ext cx="1188720" cy="329184"/>
          </a:xfrm>
          <a:prstGeom prst="rect">
            <a:avLst/>
          </a:prstGeom>
          <a:solidFill>
            <a:srgbClr val="2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59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1801368"/>
            <a:ext cx="1920240" cy="329184"/>
          </a:xfrm>
          <a:prstGeom prst="rect">
            <a:avLst/>
          </a:prstGeom>
          <a:solidFill>
            <a:srgbClr val="2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rPr dirty="0" err="1"/>
              <a:t>torch_dtype</a:t>
            </a: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3429000" y="1801368"/>
            <a:ext cx="2011680" cy="329184"/>
          </a:xfrm>
          <a:prstGeom prst="rect">
            <a:avLst/>
          </a:prstGeom>
          <a:solidFill>
            <a:srgbClr val="2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bfloat16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801368"/>
            <a:ext cx="2286000" cy="329184"/>
          </a:xfrm>
          <a:prstGeom prst="rect">
            <a:avLst/>
          </a:prstGeom>
          <a:solidFill>
            <a:srgbClr val="2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--torch_dtype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1801368"/>
            <a:ext cx="4297680" cy="329184"/>
          </a:xfrm>
          <a:prstGeom prst="rect">
            <a:avLst/>
          </a:prstGeom>
          <a:solidFill>
            <a:srgbClr val="2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1828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bfloat16 | float16 | float32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130552"/>
            <a:ext cx="118872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59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2130552"/>
            <a:ext cx="192024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21579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device_map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2130552"/>
            <a:ext cx="201168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2157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auto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2130552"/>
            <a:ext cx="228600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0" y="2157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--device_map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2130552"/>
            <a:ext cx="4297680" cy="329184"/>
          </a:xfrm>
          <a:prstGeom prst="rect">
            <a:avLst/>
          </a:prstGeom>
          <a:solidFill>
            <a:srgbClr val="2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0" y="21579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auto | cuda:0 | cpu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459736"/>
            <a:ext cx="118872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59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08760" y="2459736"/>
            <a:ext cx="192024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554480" y="2487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num_steps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2459736"/>
            <a:ext cx="2011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0" y="2487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128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459736"/>
            <a:ext cx="228600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--num_steps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2459736"/>
            <a:ext cx="4297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0" y="24871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Total diffusion denoising steps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2788920"/>
            <a:ext cx="118872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59" y="281635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2788920"/>
            <a:ext cx="192024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554480" y="2816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block_length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2788920"/>
            <a:ext cx="2011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0" y="28163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2788920"/>
            <a:ext cx="228600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0" y="281635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--block_length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2788920"/>
            <a:ext cx="4297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0" y="281635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Tokens per block; max_new_tokens ÷ block_length must be 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118104"/>
            <a:ext cx="118872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59" y="3145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08760" y="3118104"/>
            <a:ext cx="192024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544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temperature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29000" y="3118104"/>
            <a:ext cx="2011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74720" y="3145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3118104"/>
            <a:ext cx="228600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0" y="3145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--temperature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26679" y="3118104"/>
            <a:ext cx="4297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72400" y="31455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0 = greedy argmax; &gt;0 = Gumbel sampling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3447288"/>
            <a:ext cx="118872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5759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08760" y="3447288"/>
            <a:ext cx="192024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55448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cfg_scale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29000" y="3447288"/>
            <a:ext cx="2011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3447288"/>
            <a:ext cx="228600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0" y="3474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--cfg_scale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26679" y="3447288"/>
            <a:ext cx="4297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772400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Classifier-free guidance scale; 0 = disabled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3776472"/>
            <a:ext cx="118872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5759" y="3803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08760" y="3776472"/>
            <a:ext cx="192024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55448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remasking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29000" y="3776472"/>
            <a:ext cx="2011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474720" y="3803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low_confidence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40680" y="3776472"/>
            <a:ext cx="228600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486400" y="3803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--remasking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26679" y="3776472"/>
            <a:ext cx="4297680" cy="329184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772400" y="38039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low_confidence | random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105656"/>
            <a:ext cx="118872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65759" y="4133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508760" y="4105656"/>
            <a:ext cx="192024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554480" y="4133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max_new_tokens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29000" y="4105656"/>
            <a:ext cx="2011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474720" y="4133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128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40680" y="4105656"/>
            <a:ext cx="228600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486400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--max_new_tokens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26679" y="4105656"/>
            <a:ext cx="4297680" cy="329184"/>
          </a:xfrm>
          <a:prstGeom prst="rect">
            <a:avLst/>
          </a:prstGeom>
          <a:solidFill>
            <a:srgbClr val="1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772400" y="4133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Total tokens to generate (alias: --generation_len)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4434840"/>
            <a:ext cx="118872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65759" y="4462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DAG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08760" y="4434840"/>
            <a:ext cx="192024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5544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dags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29000" y="4434840"/>
            <a:ext cx="201168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474720" y="4462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[confidence]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40680" y="4434840"/>
            <a:ext cx="228600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86400" y="4462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--dags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26679" y="4434840"/>
            <a:ext cx="429768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772400" y="44622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Space-separated list; 8 choices (see slide 5)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4764024"/>
            <a:ext cx="1188720" cy="329184"/>
          </a:xfrm>
          <a:prstGeom prst="rect">
            <a:avLst/>
          </a:prstGeom>
          <a:solidFill>
            <a:srgbClr val="2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65759" y="4791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DAG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08760" y="4764024"/>
            <a:ext cx="1920240" cy="329184"/>
          </a:xfrm>
          <a:prstGeom prst="rect">
            <a:avLst/>
          </a:prstGeom>
          <a:solidFill>
            <a:srgbClr val="2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55448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cot_steps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29000" y="4764024"/>
            <a:ext cx="2011680" cy="329184"/>
          </a:xfrm>
          <a:prstGeom prst="rect">
            <a:avLst/>
          </a:prstGeom>
          <a:solidFill>
            <a:srgbClr val="2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474720" y="4791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40680" y="4764024"/>
            <a:ext cx="2286000" cy="329184"/>
          </a:xfrm>
          <a:prstGeom prst="rect">
            <a:avLst/>
          </a:prstGeom>
          <a:solidFill>
            <a:srgbClr val="2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486400" y="4791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--cot_steps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26679" y="4764024"/>
            <a:ext cx="4297680" cy="329184"/>
          </a:xfrm>
          <a:prstGeom prst="rect">
            <a:avLst/>
          </a:prstGeom>
          <a:solidFill>
            <a:srgbClr val="2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772400" y="47914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Reasoning segments for cot DAG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093208"/>
            <a:ext cx="118872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59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DAG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08760" y="5093208"/>
            <a:ext cx="192024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5544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mmlu_subjects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29000" y="5093208"/>
            <a:ext cx="201168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47472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null (10 defaults)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40680" y="5093208"/>
            <a:ext cx="228600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48640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--mmlu_subjects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26679" y="5093208"/>
            <a:ext cx="4297680" cy="329184"/>
          </a:xfrm>
          <a:prstGeom prst="rect">
            <a:avLst/>
          </a:prstGeom>
          <a:solidFill>
            <a:srgbClr val="2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772400" y="5120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Space-separated MMLU subject names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08A40"/>
                </a:solidFill>
                <a:latin typeface="Segoe UI"/>
              </a:defRPr>
            </a:pPr>
            <a:r>
              <a:t>Parameter Reference  (2/2) — Benchmarks · Output ·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  <a:latin typeface="Segoe UI"/>
              </a:defRPr>
            </a:pPr>
            <a:r>
              <a:t>Flags that are 'store_true' (boolean) are listed as --flag to enable / --no_flag to disable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8872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59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143000"/>
            <a:ext cx="192024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170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Segoe UI"/>
              </a:defRPr>
            </a:pPr>
            <a:r>
              <a:t>Parameter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143000"/>
            <a:ext cx="201168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DCAA"/>
                </a:solidFill>
                <a:latin typeface="Segoe UI"/>
              </a:defRPr>
            </a:pPr>
            <a:r>
              <a:t>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143000"/>
            <a:ext cx="228600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170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CLI Flag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143000"/>
            <a:ext cx="4297680" cy="329184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1704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Segoe UI"/>
              </a:defRPr>
            </a:pPr>
            <a:r>
              <a:t>Choices /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72184"/>
            <a:ext cx="118872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9" y="1499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472184"/>
            <a:ext cx="192024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1499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benchmarks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472184"/>
            <a:ext cx="201168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4996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[mbpp, humaneval]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1472184"/>
            <a:ext cx="228600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1499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--benchmarks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472184"/>
            <a:ext cx="429768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1499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mbpp humaneval hotpotqa mmlu gsm8k math arc prontoqa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801368"/>
            <a:ext cx="118872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59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1801368"/>
            <a:ext cx="192024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num_samples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1801368"/>
            <a:ext cx="201168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null (all)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801368"/>
            <a:ext cx="228600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--num_samples 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1801368"/>
            <a:ext cx="429768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1828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Integer; limits samples per benchmark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130552"/>
            <a:ext cx="118872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59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2130552"/>
            <a:ext cx="192024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21579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run_tests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2130552"/>
            <a:ext cx="201168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2157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true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2130552"/>
            <a:ext cx="228600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0" y="2157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--no_run_tests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2130552"/>
            <a:ext cx="4297680" cy="329184"/>
          </a:xfrm>
          <a:prstGeom prst="rect">
            <a:avLst/>
          </a:prstGeom>
          <a:solidFill>
            <a:srgbClr val="2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0" y="21579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Set flag to SKIP code execution (inspect output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459736"/>
            <a:ext cx="118872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59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08760" y="2459736"/>
            <a:ext cx="192024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554480" y="2487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verbose_errors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2459736"/>
            <a:ext cx="201168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0" y="2487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false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459736"/>
            <a:ext cx="228600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--verbose_errors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2459736"/>
            <a:ext cx="4297680" cy="329184"/>
          </a:xfrm>
          <a:prstGeom prst="rect">
            <a:avLst/>
          </a:prstGeom>
          <a:solidFill>
            <a:srgbClr val="2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0" y="24871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Print per-sample stderr / timeout / error message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2788920"/>
            <a:ext cx="118872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59" y="281635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2788920"/>
            <a:ext cx="192024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554480" y="2816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output_dir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2788920"/>
            <a:ext cx="201168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0" y="28163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results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2788920"/>
            <a:ext cx="228600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0" y="281635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--output_dir PATH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2788920"/>
            <a:ext cx="429768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0" y="281635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Directory for result JSON files; .sh scripts append timestamp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118104"/>
            <a:ext cx="1188720" cy="329184"/>
          </a:xfrm>
          <a:prstGeom prst="rect">
            <a:avLst/>
          </a:prstGeom>
          <a:solidFill>
            <a:srgbClr val="3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59" y="3145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08760" y="3118104"/>
            <a:ext cx="1920240" cy="329184"/>
          </a:xfrm>
          <a:prstGeom prst="rect">
            <a:avLst/>
          </a:prstGeom>
          <a:solidFill>
            <a:srgbClr val="3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544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resume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29000" y="3118104"/>
            <a:ext cx="2011680" cy="329184"/>
          </a:xfrm>
          <a:prstGeom prst="rect">
            <a:avLst/>
          </a:prstGeom>
          <a:solidFill>
            <a:srgbClr val="3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74720" y="3145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false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3118104"/>
            <a:ext cx="2286000" cy="329184"/>
          </a:xfrm>
          <a:prstGeom prst="rect">
            <a:avLst/>
          </a:prstGeom>
          <a:solidFill>
            <a:srgbClr val="3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0" y="3145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--resume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26679" y="3118104"/>
            <a:ext cx="4297680" cy="329184"/>
          </a:xfrm>
          <a:prstGeom prst="rect">
            <a:avLst/>
          </a:prstGeom>
          <a:solidFill>
            <a:srgbClr val="3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72400" y="31455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Skip runs whose result .json already exists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3447288"/>
            <a:ext cx="118872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5759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08760" y="3447288"/>
            <a:ext cx="192024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55448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config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29000" y="3447288"/>
            <a:ext cx="201168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auto-detected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3447288"/>
            <a:ext cx="228600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0" y="3474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--config PATH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26679" y="3447288"/>
            <a:ext cx="4297680" cy="329184"/>
          </a:xfrm>
          <a:prstGeom prst="rect">
            <a:avLst/>
          </a:prstGeom>
          <a:solidFill>
            <a:srgbClr val="28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772400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Load configs/eval_default.yaml; CLI overrides apply on top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3776472"/>
            <a:ext cx="118872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5759" y="3803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Save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08760" y="3776472"/>
            <a:ext cx="192024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55448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save_outputs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29000" y="3776472"/>
            <a:ext cx="2011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474720" y="3803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false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40680" y="3776472"/>
            <a:ext cx="228600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486400" y="3803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--save_outputs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26679" y="3776472"/>
            <a:ext cx="4297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772400" y="38039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MASTER SWITCH — must be set for any files to be written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105656"/>
            <a:ext cx="118872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65759" y="4133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Save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508760" y="4105656"/>
            <a:ext cx="192024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554480" y="4133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save_qa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29000" y="4105656"/>
            <a:ext cx="201168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474720" y="4133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true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40680" y="4105656"/>
            <a:ext cx="228600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486400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--no_save_qa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26679" y="4105656"/>
            <a:ext cx="429768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772400" y="4133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Include prompt + generated answer in output files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4434840"/>
            <a:ext cx="118872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65759" y="4462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Save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08760" y="4434840"/>
            <a:ext cx="192024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5544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save_ground_truth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29000" y="4434840"/>
            <a:ext cx="2011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474720" y="4462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true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40680" y="4434840"/>
            <a:ext cx="228600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86400" y="4462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--no_save_ground_truth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26679" y="4434840"/>
            <a:ext cx="4297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772400" y="44622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Include reference/canonical answers in output files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4764024"/>
            <a:ext cx="118872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65759" y="4791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Save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08760" y="4764024"/>
            <a:ext cx="192024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55448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record_trajectory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29000" y="4764024"/>
            <a:ext cx="201168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474720" y="4791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false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40680" y="4764024"/>
            <a:ext cx="228600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486400" y="4791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--record_trajectory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26679" y="4764024"/>
            <a:ext cx="4297680" cy="329184"/>
          </a:xfrm>
          <a:prstGeom prst="rect">
            <a:avLst/>
          </a:prstGeom>
          <a:solidFill>
            <a:srgbClr val="2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772400" y="47914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Save per-step unmasking states (large file; use on small runs)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093208"/>
            <a:ext cx="118872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59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A40"/>
                </a:solidFill>
                <a:latin typeface="Segoe UI"/>
              </a:defRPr>
            </a:pPr>
            <a:r>
              <a:t>Save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08760" y="5093208"/>
            <a:ext cx="192024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5544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output_formats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29000" y="5093208"/>
            <a:ext cx="2011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47472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[json, xlsx]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40680" y="5093208"/>
            <a:ext cx="228600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48640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B070"/>
                </a:solidFill>
                <a:latin typeface="Consolas"/>
              </a:defRPr>
            </a:pPr>
            <a:r>
              <a:t>--output_formats ...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26679" y="5093208"/>
            <a:ext cx="4297680" cy="329184"/>
          </a:xfrm>
          <a:prstGeom prst="rect">
            <a:avLst/>
          </a:prstGeom>
          <a:solidFill>
            <a:srgbClr val="3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772400" y="5120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json | xlsx | json xlsx  (space-separated)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0B070"/>
                </a:solidFill>
                <a:latin typeface="Segoe UI"/>
              </a:defRPr>
            </a:pPr>
            <a:r>
              <a:t>scripts/  — Script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  <a:latin typeface="Segoe UI"/>
              </a:defRPr>
            </a:pPr>
            <a:r>
              <a:t>All scripts load configs/eval_default.yaml by default. Extra CLI args override config values. Pass-through via "$@".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70432"/>
            <a:ext cx="5760720" cy="192024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760720" cy="34747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070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nsolas"/>
              </a:defRPr>
            </a:pPr>
            <a:r>
              <a:t>scripts/run_eval.sh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572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Main LLaDA evaluation entry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83664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Checks environment (PyTorch, dllm_reason package)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Loads configs/eval_default.yaml automatically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Appends timestamp to output_dir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Passes all extra args to eval_dags.py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Usage:  bash scripts/run_eval.sh  [--flag value ...]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70432"/>
            <a:ext cx="5760720" cy="192024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170432"/>
            <a:ext cx="5760720" cy="347472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799" y="12070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nsolas"/>
              </a:defRPr>
            </a:pPr>
            <a:r>
              <a:t>scripts/eval_dags.py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1572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Python evaluation driver — all logic lives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1883664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Parses CLI args with config-file fallback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Loads LLaDA model, builds scheduler per DAG strategy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Runs each benchmark × each strategy combination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Saves per-run .json and summary.json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Called by every .sh script; rarely invoked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273552"/>
            <a:ext cx="5760720" cy="192024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273552"/>
            <a:ext cx="5760720" cy="347472"/>
          </a:xfrm>
          <a:prstGeom prst="rect">
            <a:avLst/>
          </a:prstGeom>
          <a:solidFill>
            <a:srgbClr val="9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33101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nsolas"/>
              </a:defRPr>
            </a:pPr>
            <a:r>
              <a:t>scripts/infer_llada.py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6758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Standalone single-prompt inference — no eval harness.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986784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Accepts --prompt directly on CLI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Robust mask_token_id resolution (model.config → tokenizer)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Prints decoded generation to stdout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Usage:  python scripts/infer_llada.py --prompt "..."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273552"/>
            <a:ext cx="5760720" cy="192024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59" y="3273552"/>
            <a:ext cx="5760720" cy="347472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799" y="33101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nsolas"/>
              </a:defRPr>
            </a:pPr>
            <a:r>
              <a:t>scripts/download_models.py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36758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Download LLaDA weights from HuggingFace.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3986784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Saves to checkpoints/llada-instruct/ by default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--mirror https://hf-mirror.com  for China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Skips if directory already exists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577840"/>
            <a:ext cx="5760720" cy="10515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5760720" cy="347472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56144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nsolas"/>
              </a:defRPr>
            </a:pPr>
            <a:r>
              <a:t>scripts/download_datasets.py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9801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Download benchmark datasets.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6291072"/>
            <a:ext cx="55778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Saves to datasets/  by default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--mirror flag for HF mirror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69CD6"/>
                </a:solidFill>
                <a:latin typeface="Segoe UI"/>
              </a:defRPr>
            </a:pPr>
            <a:r>
              <a:t>scripts/runs/  — Per-Strategy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  <a:latin typeface="Segoe UI"/>
              </a:defRPr>
            </a:pPr>
            <a:r>
              <a:t>Each script sets --dags &lt;name&gt; and --output_dir results/&lt;name&gt;_&lt;timestamp&gt;. All extra CLI args pass through: bash scripts/runs/cot.sh --num_samples 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70432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228600" cy="96012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435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confidence.sh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Highest-confidence first (LLaDA 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4358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scripts/runs/confidence.sh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228600" cy="960120"/>
          </a:xfrm>
          <a:prstGeom prst="rect">
            <a:avLst/>
          </a:prstGeom>
          <a:solidFill>
            <a:srgbClr val="9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2435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random.sh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Uniform random unmasking (stochastic 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24358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scripts/runs/random.sh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249424"/>
            <a:ext cx="228600" cy="9601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3225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linear.sh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249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Left-to-right sequential unmasking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32257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scripts/runs/linear.sh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249424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249424"/>
            <a:ext cx="228600" cy="9601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3225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empty.sh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249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No constraint — pure standard LLaDA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32257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scripts/runs/empty.sh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328415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328415"/>
            <a:ext cx="228600" cy="960120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cot.sh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039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Chain-of-Thought DAG   (--cot_steps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4015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scripts/runs/cot.sh --cot_steps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328415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328415"/>
            <a:ext cx="228600" cy="96012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skeleton.sh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8039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Skeleton-then-Detail DAG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4015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scripts/runs/skeleton.sh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407408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407408"/>
            <a:ext cx="228600" cy="96012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bidirectional.sh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Bidirectional DAG (both ends → center)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480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scripts/runs/bidirectional.sh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407408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4407408"/>
            <a:ext cx="228600" cy="96012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answer_first.sh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882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Answer region unmasked before reasoning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480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scripts/runs/answer_first.sh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486400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5486400"/>
            <a:ext cx="228600" cy="960120"/>
          </a:xfrm>
          <a:prstGeom prst="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5595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all_strategies.sh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9618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All 8 strategies in one run → single summary.json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5559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scripts/runs/all_strategies.sh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486400"/>
            <a:ext cx="576072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09360" y="5486400"/>
            <a:ext cx="228600" cy="9601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55595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save_outputs.sh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9618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Any strategy + --save_outputs + commented options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6920" y="5559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DCDCAA"/>
                </a:solidFill>
                <a:latin typeface="Consolas"/>
              </a:defRPr>
            </a:pPr>
            <a:r>
              <a:t>bash scripts/runs/save_outputs.sh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9B0"/>
                </a:solidFill>
                <a:latin typeface="Segoe UI"/>
              </a:defRPr>
            </a:pPr>
            <a:r>
              <a:t>Eval Pipeline &amp; Config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1005840"/>
          </a:xfrm>
          <a:prstGeom prst="round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252990"/>
            <a:ext cx="2340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CLI Flags</a:t>
            </a:r>
            <a:br>
              <a:rPr sz="1400" dirty="0"/>
            </a:br>
            <a:r>
              <a:rPr sz="1400" dirty="0"/>
              <a:t>(highest priority)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560320" cy="1005840"/>
          </a:xfrm>
          <a:prstGeom prst="round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67328" y="2252990"/>
            <a:ext cx="2340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rPr sz="1400"/>
              <a:t>configs/eval_default.yaml</a:t>
            </a:r>
            <a:br>
              <a:rPr sz="1400"/>
            </a:br>
            <a:r>
              <a:rPr sz="1400"/>
              <a:t>(loaded automatically)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2560320" cy="1005840"/>
          </a:xfrm>
          <a:prstGeom prst="round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7728" y="2252990"/>
            <a:ext cx="2340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rPr sz="1400"/>
              <a:t>argparse defaults</a:t>
            </a:r>
            <a:br>
              <a:rPr sz="1400"/>
            </a:br>
            <a:r>
              <a:rPr sz="1400"/>
              <a:t>(fallback)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011680"/>
            <a:ext cx="1828800" cy="1005840"/>
          </a:xfrm>
          <a:prstGeom prst="round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93807" y="2360712"/>
            <a:ext cx="1609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rPr sz="1400"/>
              <a:t>eval_dags.py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22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22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255" y="2322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EC9B0"/>
                </a:solidFill>
                <a:latin typeface="Segoe UI"/>
              </a:defRPr>
            </a:pPr>
            <a:r>
              <a:rPr dirty="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EC9B0"/>
                </a:solidFill>
                <a:latin typeface="Segoe UI"/>
              </a:defRPr>
            </a:pPr>
            <a:r>
              <a:t>configs/eval_default.yaml  sections: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3749039" cy="256032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72160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model: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05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model_id  ·  torch_dtype  ·  device_map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703320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3703320"/>
            <a:ext cx="3749039" cy="2560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3984" y="372160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inference: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4005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num_steps  ·  block_length  ·  temperature  ·  cfg_scale  ·  remasking  ·  max_new_tokens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4464" y="3703320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3703320"/>
            <a:ext cx="3749039" cy="256032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6" y="372160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benchmarks: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005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benchmarks  ·  num_samples  ·  run_tests  ·  verbose_errors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07992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507992"/>
            <a:ext cx="3749039" cy="256032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52627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dags: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8097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dags  ·  cot_steps  ·  mmlu_subjects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4507992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70832" y="4507992"/>
            <a:ext cx="3749039" cy="256032"/>
          </a:xfrm>
          <a:prstGeom prst="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43984" y="452627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output: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48097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output_dir  ·  resume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4507992"/>
            <a:ext cx="3749039" cy="713232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84464" y="4507992"/>
            <a:ext cx="3749039" cy="256032"/>
          </a:xfrm>
          <a:prstGeom prst="rect">
            <a:avLst/>
          </a:prstGeom>
          <a:solidFill>
            <a:srgbClr val="9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57616" y="452627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save: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8097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onsolas"/>
              </a:defRPr>
            </a:pPr>
            <a:r>
              <a:t>save_outputs  ·  save_qa  ·  save_ground_truth  ·  record_trajectory  ·  output_formats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08A40"/>
                </a:solidFill>
                <a:latin typeface="Segoe UI"/>
              </a:defRPr>
            </a:pPr>
            <a:r>
              <a:t>Per-Sample Output Saving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47120" cy="566928"/>
          </a:xfrm>
          <a:prstGeom prst="round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CDCAA"/>
                </a:solidFill>
                <a:latin typeface="Consolas"/>
              </a:defRPr>
            </a:pPr>
            <a:r>
              <a:t>Master switch:  --save_outputs   (or set  save_outputs: true  in configs/eval_default.yaml)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749039" cy="49834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384048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{bench}_{dag}_samples.json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Full per-sample JSON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rPr dirty="0"/>
              <a:t>▸  prompt (if </a:t>
            </a:r>
            <a:r>
              <a:rPr dirty="0" err="1"/>
              <a:t>save_qa</a:t>
            </a:r>
            <a:r>
              <a:rPr dirty="0"/>
              <a:t>: true)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rPr dirty="0"/>
              <a:t>▸  generated output (raw + extracted)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rPr dirty="0"/>
              <a:t>▸  ground truth / canonical solution (if </a:t>
            </a:r>
            <a:r>
              <a:rPr dirty="0" err="1"/>
              <a:t>save_ground_truth</a:t>
            </a:r>
            <a:r>
              <a:rPr dirty="0"/>
              <a:t>: true)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rPr dirty="0"/>
              <a:t>▸  pass / fail status, error, </a:t>
            </a:r>
            <a:r>
              <a:rPr dirty="0" err="1"/>
              <a:t>stdout</a:t>
            </a:r>
            <a:r>
              <a:rPr dirty="0"/>
              <a:t>, stderr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timed_out</a:t>
            </a:r>
            <a:r>
              <a:rPr dirty="0"/>
              <a:t> 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554480"/>
            <a:ext cx="3749039" cy="49834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554480"/>
            <a:ext cx="3749039" cy="384048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{bench}_{dag}_samples.xlsx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Excel spreadsheet (openpyxl)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One row per sample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Same columns as JSON, human-readable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Long strings truncated to 2000 chars/cell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Auto-fit column widths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Easy to open in Excel / Google 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554480"/>
            <a:ext cx="3749039" cy="49834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4" y="1554480"/>
            <a:ext cx="3749039" cy="384048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{bench}_{dag}_trajectory.json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CDCAA"/>
                </a:solidFill>
                <a:latin typeface="Segoe UI"/>
              </a:defRPr>
            </a:pPr>
            <a:r>
              <a:t>Per-step unmasking states</a:t>
            </a:r>
            <a:br/>
            <a:r>
              <a:t>(--record_trajectory required)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100" b="0" i="0">
                <a:solidFill>
                  <a:srgbClr val="CCCCCC"/>
                </a:solidFill>
                <a:latin typeface="Segoe UI"/>
              </a:defRPr>
            </a:pPr>
            <a:r>
              <a:t>▸  Enabled with --record_trajectory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One entry per sample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List of decoded strings: one per diffusion step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Shows generation area only (not prompt)</a:t>
            </a:r>
          </a:p>
          <a:p>
            <a:pPr>
              <a:spcBef>
                <a:spcPts val="500"/>
              </a:spcBef>
              <a:defRPr sz="1100">
                <a:solidFill>
                  <a:srgbClr val="CCCCCC"/>
                </a:solidFill>
                <a:latin typeface="Segoe UI"/>
              </a:defRPr>
            </a:pPr>
            <a:r>
              <a:t>▸  ⚠ Large file for long runs — keep num_samples 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Consolas"/>
              </a:defRPr>
            </a:pPr>
            <a:r>
              <a:t>Sub-options:  --no_save_qa   --no_save_ground_truth   --record_trajectory   --output_formats json   --output_formats xlsx   --output_formats json xlsx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9B0"/>
                </a:solidFill>
                <a:latin typeface="Segoe UI"/>
              </a:defRPr>
            </a:pPr>
            <a:r>
              <a:t>Quick Start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9875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Default run  (LLaDA + confidence scheduler)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28930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4416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scripts/run_eval.sh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96012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27432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399" y="9875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Override parameters on the fly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28930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1" y="134416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scripts/run_eval.sh --benchmarks mbpp --num_samples 50 --num_steps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96012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960120"/>
            <a:ext cx="3749039" cy="274320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9875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Run a specific DAG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28930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34416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scripts/runs/cot.sh --benchmarks mbpp humaneval --cot_steps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8036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880360"/>
            <a:ext cx="3749039" cy="274320"/>
          </a:xfrm>
          <a:prstGeom prst="rect">
            <a:avLst/>
          </a:prstGeom>
          <a:solidFill>
            <a:srgbClr val="5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90779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Compare all 8 strategies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320954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26440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scripts/runs/all_strategies.sh --num_samples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288036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2880360"/>
            <a:ext cx="3749039" cy="274320"/>
          </a:xfrm>
          <a:prstGeom prst="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399" y="290779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Save QA pairs + ground truth to JSON + Excel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320954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1" y="326440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scripts/run_eval.sh --save_outputs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88036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2880360"/>
            <a:ext cx="3749039" cy="274320"/>
          </a:xfrm>
          <a:prstGeom prst="rect">
            <a:avLst/>
          </a:prstGeom>
          <a:solidFill>
            <a:srgbClr val="E0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19" y="290779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Save outputs + record unmasking trajectory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320954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1" y="326440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scripts/runs/save_outputs.sh --record_trajectory --num_samples 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480060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3749039" cy="27432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79" y="48280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Run only JSON output (skip Excel)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79" y="512978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518464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bash scripts/run_eval.sh --save_outputs --output_formats json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59" y="480060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51959" y="4800600"/>
            <a:ext cx="3749039" cy="274320"/>
          </a:xfrm>
          <a:prstGeom prst="rect">
            <a:avLst/>
          </a:prstGeom>
          <a:solidFill>
            <a:srgbClr val="9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399" y="48280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Single-prompt inference (no eval harness)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399" y="512978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16551" y="518464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python scripts/infer_llada.py --model_id checkpoints/llada-instruct \</a:t>
            </a:r>
            <a:br/>
            <a:r>
              <a:t>    --prompt "Write a Python function to reverse a string." \</a:t>
            </a:r>
            <a:br/>
            <a:r>
              <a:t>    --num_steps 128 --temperature 0.0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4800600"/>
            <a:ext cx="3749039" cy="173736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83879" y="4800600"/>
            <a:ext cx="3749039" cy="2743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5319" y="48280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Edit config file to change all defaults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5129784"/>
            <a:ext cx="3566160" cy="1316736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1" y="5184648"/>
            <a:ext cx="34015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CDCAA"/>
                </a:solidFill>
                <a:latin typeface="Consolas"/>
              </a:defRPr>
            </a:pPr>
            <a:r>
              <a:t># edit configs/eval_default.yaml, then:</a:t>
            </a:r>
            <a:br/>
            <a:r>
              <a:t>bash scripts/run_eval.sh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  <a:latin typeface="Segoe UI"/>
              </a:defRPr>
            </a:pPr>
            <a:r>
              <a:t>dLLM-Reason v1.2.3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2568</Words>
  <Application>Microsoft Office PowerPoint</Application>
  <PresentationFormat>宽屏</PresentationFormat>
  <Paragraphs>387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Shi, Mingjia (nzh3ru)</cp:lastModifiedBy>
  <cp:revision>4</cp:revision>
  <dcterms:created xsi:type="dcterms:W3CDTF">2013-01-27T09:14:16Z</dcterms:created>
  <dcterms:modified xsi:type="dcterms:W3CDTF">2026-04-07T15:53:59Z</dcterms:modified>
  <cp:category/>
</cp:coreProperties>
</file>