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4EC9B0"/>
                </a:solidFill>
                <a:latin typeface="Segoe UI"/>
              </a:defRPr>
            </a:pPr>
            <a:r>
              <a:t>dLLM-Reason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560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Segoe UI"/>
              </a:defRPr>
            </a:pPr>
            <a:r>
              <a:t>DAG-Guided Discrete Diffusion Language Models for Reasoning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657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DCDCAA"/>
                </a:solidFill>
                <a:latin typeface="Segoe UI"/>
              </a:defRPr>
            </a:pPr>
            <a:r>
              <a:t>V1.0 Release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47548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69 Python files  |  ~9,200 lines of code  |  31 config files</a:t>
            </a:r>
          </a:p>
          <a:p>
            <a:pPr>
              <a:spcBef>
                <a:spcPts val="400"/>
              </a:spcBef>
              <a:defRPr sz="1400" b="0">
                <a:solidFill>
                  <a:srgbClr val="CCCCCC"/>
                </a:solidFill>
                <a:latin typeface="Segoe UI"/>
              </a:defRPr>
            </a:pPr>
            <a:r>
              <a:t>4 dLLM models  |  5 schedulers  |  4 search methods  |  DAG library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EC9B0"/>
                </a:solidFill>
                <a:latin typeface="Segoe UI"/>
              </a:defRPr>
            </a:pPr>
            <a:r>
              <a:t>Core 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Discrete diffusion LMs (dLLMs) generate text by iteratively unmasking tokens.</a:t>
            </a:r>
          </a:p>
          <a:p>
            <a:pPr>
              <a:spcBef>
                <a:spcPts val="600"/>
              </a:spcBef>
              <a:defRPr sz="1800" b="0">
                <a:solidFill>
                  <a:srgbClr val="CCCCCC"/>
                </a:solidFill>
                <a:latin typeface="Segoe UI"/>
              </a:defRPr>
            </a:pPr>
            <a:r>
              <a:t>Standard: random or confidence-based unmasking order.</a:t>
            </a:r>
          </a:p>
          <a:p>
            <a:pPr>
              <a:spcBef>
                <a:spcPts val="600"/>
              </a:spcBef>
              <a:defRPr sz="1800" b="1">
                <a:solidFill>
                  <a:srgbClr val="DCDCAA"/>
                </a:solidFill>
                <a:latin typeface="Segoe UI"/>
              </a:defRPr>
            </a:pPr>
            <a:r>
              <a:t>Our approach: use DAG topology to enforce reasoning dependencies.</a:t>
            </a:r>
          </a:p>
          <a:p>
            <a:pPr>
              <a:spcBef>
                <a:spcPts val="1200"/>
              </a:spcBef>
              <a:defRPr sz="1600" b="0">
                <a:solidFill>
                  <a:srgbClr val="E08A40"/>
                </a:solidFill>
                <a:latin typeface="Segoe UI"/>
              </a:defRPr>
            </a:pPr>
            <a:r>
              <a:t>"Position j can only unmask after all its DAG parents are unmasked."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474720"/>
            <a:ext cx="2926080" cy="914400"/>
          </a:xfrm>
          <a:prstGeom prst="roundRect">
            <a:avLst/>
          </a:prstGeom>
          <a:solidFill>
            <a:srgbClr val="2D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Model Layer</a:t>
            </a:r>
            <a:br/>
            <a:r>
              <a:t>MDLM | SEDD | D3PM | LLaDA</a:t>
            </a:r>
            <a:br/>
            <a:r>
              <a:t>(what to predict)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3474720"/>
            <a:ext cx="2926080" cy="914400"/>
          </a:xfrm>
          <a:prstGeom prst="roundRect">
            <a:avLst/>
          </a:prstGeom>
          <a:solidFill>
            <a:srgbClr val="4A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Scheduler Layer</a:t>
            </a:r>
            <a:br/>
            <a:r>
              <a:t>Random | Confidence | DAG</a:t>
            </a:r>
            <a:br/>
            <a:r>
              <a:t>(where to unmask)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3474720"/>
            <a:ext cx="2926080" cy="914400"/>
          </a:xfrm>
          <a:prstGeom prst="roundRect">
            <a:avLst/>
          </a:prstGeom>
          <a:solidFill>
            <a:srgbClr val="2D6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DAG Layer</a:t>
            </a:r>
            <a:br/>
            <a:r>
              <a:t>TokenDAG + Templates</a:t>
            </a:r>
            <a:br/>
            <a:r>
              <a:t>(dependency structure)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886200" y="3749039"/>
            <a:ext cx="640080" cy="365760"/>
          </a:xfrm>
          <a:prstGeom prst="rightArrow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ight Arrow 7"/>
          <p:cNvSpPr/>
          <p:nvPr/>
        </p:nvSpPr>
        <p:spPr>
          <a:xfrm>
            <a:off x="7543800" y="3749039"/>
            <a:ext cx="640080" cy="365760"/>
          </a:xfrm>
          <a:prstGeom prst="rightArrow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8463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9B0"/>
                </a:solidFill>
                <a:latin typeface="Segoe UI"/>
              </a:defRPr>
            </a:pPr>
            <a:r>
              <a:t>Key Design: DAG constraints inject at the scheduler layer.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  <a:latin typeface="Segoe UI"/>
              </a:defRPr>
            </a:pPr>
            <a:r>
              <a:t>Models need zero modification. Any dLLM + any scheduler = free composition.</a:t>
            </a:r>
          </a:p>
          <a:p>
            <a:pPr>
              <a:spcBef>
                <a:spcPts val="800"/>
              </a:spcBef>
              <a:defRPr sz="1300" b="0">
                <a:solidFill>
                  <a:srgbClr val="DCDCAA"/>
                </a:solidFill>
                <a:latin typeface="Segoe UI"/>
              </a:defRPr>
            </a:pPr>
            <a:r>
              <a:t>ready = (~adj | is_unmasked).all(dim=1)   # one line of GPU tensor math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EC9B0"/>
                </a:solidFill>
                <a:latin typeface="Segoe UI"/>
              </a:defRPr>
            </a:pPr>
            <a:r>
              <a:t>Version Timeline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2651760" cy="457200"/>
          </a:xfrm>
          <a:prstGeom prst="roundRect">
            <a:avLst/>
          </a:prstGeom>
          <a:solidFill>
            <a:srgbClr val="3A5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V0.1 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Segoe UI"/>
              </a:defRPr>
            </a:pPr>
            <a:r>
              <a:t>DiffusionLM base, MDLM, RandomScheduler,</a:t>
            </a:r>
            <a:br/>
            <a:r>
              <a:t>Sampler, Trainer, GSM8K loader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188720"/>
            <a:ext cx="2651760" cy="457200"/>
          </a:xfrm>
          <a:prstGeom prst="roundRect">
            <a:avLst/>
          </a:prstGeom>
          <a:solidFill>
            <a:srgbClr val="3A6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V0.2  Baselines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20440" y="1691640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Segoe UI"/>
              </a:defRPr>
            </a:pPr>
            <a:r>
              <a:t>SEDD, D3PM, Confidence/Linear schedulers,</a:t>
            </a:r>
            <a:br/>
            <a:r>
              <a:t>Metrics, MultiSchedulerComparison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59" y="1188720"/>
            <a:ext cx="2651760" cy="457200"/>
          </a:xfrm>
          <a:prstGeom prst="roundRect">
            <a:avLst/>
          </a:prstGeom>
          <a:solidFill>
            <a:srgbClr val="5A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V0.3  DAG 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799" y="1691640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Segoe UI"/>
              </a:defRPr>
            </a:pPr>
            <a:r>
              <a:t>TokenDAG, 6 templates, DAGScheduler,</a:t>
            </a:r>
            <a:br/>
            <a:r>
              <a:t>DAGSampler, acyclicity constraints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89719" y="1188720"/>
            <a:ext cx="2651760" cy="457200"/>
          </a:xfrm>
          <a:prstGeom prst="roundRect">
            <a:avLst/>
          </a:prstGeom>
          <a:solidFill>
            <a:srgbClr val="7A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V0.4  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81159" y="1691640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Segoe UI"/>
              </a:defRPr>
            </a:pPr>
            <a:r>
              <a:t>Evolutionary, Greedy, RL Policy, NOTEARS,</a:t>
            </a:r>
            <a:br/>
            <a:r>
              <a:t>Fitness functions, DAG analysis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931920"/>
            <a:ext cx="2651760" cy="457200"/>
          </a:xfrm>
          <a:prstGeom prst="roundRect">
            <a:avLst/>
          </a:prstGeom>
          <a:solidFill>
            <a:srgbClr val="3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V0.5  Training+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434840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Segoe UI"/>
              </a:defRPr>
            </a:pPr>
            <a:r>
              <a:t>LLaDA-8B, DAG-aware training,</a:t>
            </a:r>
            <a:br/>
            <a:r>
              <a:t>Diffu-GRPO, 4 benchmark evaluators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3931920"/>
            <a:ext cx="2651760" cy="457200"/>
          </a:xfrm>
          <a:prstGeom prst="roundRect">
            <a:avLst/>
          </a:prstGeom>
          <a:solidFill>
            <a:srgbClr val="5A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V0.6  Configs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4434840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Segoe UI"/>
              </a:defRPr>
            </a:pPr>
            <a:r>
              <a:t>31 YAMLs, 2 notebooks,</a:t>
            </a:r>
            <a:br/>
            <a:r>
              <a:t>3 test suites, scripts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59" y="3931920"/>
            <a:ext cx="2651760" cy="457200"/>
          </a:xfrm>
          <a:prstGeom prst="roundRect">
            <a:avLst/>
          </a:prstGeom>
          <a:solidFill>
            <a:srgbClr val="6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V0.7  Library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799" y="4434840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Segoe UI"/>
              </a:defRPr>
            </a:pPr>
            <a:r>
              <a:t>SQLite+FAISS store, 3 retrieval channels,</a:t>
            </a:r>
            <a:br/>
            <a:r>
              <a:t>4 fusion, 3 feedback, merge, fitness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9719" y="3931920"/>
            <a:ext cx="2651760" cy="457200"/>
          </a:xfrm>
          <a:prstGeom prst="roundRect">
            <a:avLst/>
          </a:prstGeom>
          <a:solidFill>
            <a:srgbClr val="2D6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V1.0  Integration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59" y="4434840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Segoe UI"/>
              </a:defRPr>
            </a:pPr>
            <a:r>
              <a:t>Search↔Library pipeline, CLI,</a:t>
            </a:r>
            <a:br/>
            <a:r>
              <a:t>30+ library tests, bug fixes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EC9B0"/>
                </a:solidFill>
                <a:latin typeface="Segoe UI"/>
              </a:defRPr>
            </a:pPr>
            <a:r>
              <a:t>Models &amp; Schedulers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69CD6"/>
                </a:solidFill>
                <a:latin typeface="Segoe UI"/>
              </a:defRPr>
            </a:pPr>
            <a:r>
              <a:t>4 Discrete Diffusion Models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371600" cy="365760"/>
          </a:xfrm>
          <a:prstGeom prst="roundRect">
            <a:avLst/>
          </a:prstGeom>
          <a:solidFill>
            <a:srgbClr val="2D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MDLM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783080"/>
            <a:ext cx="365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Absorbing-state continuous-time</a:t>
            </a:r>
            <a:br/>
            <a:r>
              <a:t>Geometric/linear/cosine noise schedules</a:t>
            </a:r>
            <a:br/>
            <a:r>
              <a:t>Continuous-time ELBO loss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71800"/>
            <a:ext cx="1371600" cy="365760"/>
          </a:xfrm>
          <a:prstGeom prst="roundRect">
            <a:avLst/>
          </a:prstGeom>
          <a:solidFill>
            <a:srgbClr val="2D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SEDD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2926080"/>
            <a:ext cx="365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Score-entropy discrete diffusion</a:t>
            </a:r>
            <a:br/>
            <a:r>
              <a:t>Score-based parameterization</a:t>
            </a:r>
            <a:br/>
            <a:r>
              <a:t>Transition rate weighting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1371600" cy="365760"/>
          </a:xfrm>
          <a:prstGeom prst="roundRect">
            <a:avLst/>
          </a:prstGeom>
          <a:solidFill>
            <a:srgbClr val="2D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D3PM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4069080"/>
            <a:ext cx="365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Discrete-time structured transitions</a:t>
            </a:r>
            <a:br/>
            <a:r>
              <a:t>Absorbing + uniform types</a:t>
            </a:r>
            <a:br/>
            <a:r>
              <a:t>Hybrid lambda loss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257800"/>
            <a:ext cx="1371600" cy="365760"/>
          </a:xfrm>
          <a:prstGeom prst="roundRect">
            <a:avLst/>
          </a:prstGeom>
          <a:solidFill>
            <a:srgbClr val="2D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LLaDA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5212080"/>
            <a:ext cx="365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Wraps HuggingFace LLaDA-8B-Instruct</a:t>
            </a:r>
            <a:br/>
            <a:r>
              <a:t>Inference-only with any scheduler</a:t>
            </a:r>
            <a:br/>
            <a:r>
              <a:t>Prompt encoding +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188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69CD6"/>
                </a:solidFill>
                <a:latin typeface="Segoe UI"/>
              </a:defRPr>
            </a:pPr>
            <a:r>
              <a:t>5 Unmasking Schedulers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1828800"/>
            <a:ext cx="1828800" cy="365760"/>
          </a:xfrm>
          <a:prstGeom prst="roundRect">
            <a:avLst/>
          </a:prstGeom>
          <a:solidFill>
            <a:srgbClr val="4A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Random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17830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Uniform random from masked positions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2788920"/>
            <a:ext cx="1828800" cy="365760"/>
          </a:xfrm>
          <a:prstGeom prst="roundRect">
            <a:avLst/>
          </a:prstGeom>
          <a:solidFill>
            <a:srgbClr val="4A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Confidence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274320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Highest-confidence positions first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3749039"/>
            <a:ext cx="1828800" cy="365760"/>
          </a:xfrm>
          <a:prstGeom prst="roundRect">
            <a:avLst/>
          </a:prstGeom>
          <a:solidFill>
            <a:srgbClr val="4A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Linear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370332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Left-to-right sequential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0" y="4709160"/>
            <a:ext cx="1828800" cy="365760"/>
          </a:xfrm>
          <a:prstGeom prst="roundRect">
            <a:avLst/>
          </a:prstGeom>
          <a:solidFill>
            <a:srgbClr val="4A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DAGScheduler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466344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DAG-constrained eligible positions</a:t>
            </a:r>
            <a:br/>
            <a:r>
              <a:t>+ sub-strategy: all_ready / confidence_topk / proportional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0" y="5669280"/>
            <a:ext cx="1828800" cy="365760"/>
          </a:xfrm>
          <a:prstGeom prst="roundRect">
            <a:avLst/>
          </a:prstGeom>
          <a:solidFill>
            <a:srgbClr val="4A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Adaptive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56235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DAG + confidence-aware</a:t>
            </a:r>
            <a:br/>
            <a:r>
              <a:t>with bypass for stuck situations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EC9B0"/>
                </a:solidFill>
                <a:latin typeface="Segoe UI"/>
              </a:defRPr>
            </a:pPr>
            <a:r>
              <a:t>TokenDAG &amp; Templates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69CD6"/>
                </a:solidFill>
                <a:latin typeface="Segoe UI"/>
              </a:defRPr>
            </a:pPr>
            <a:r>
              <a:t>TokenDAG — Core Data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Bef>
                <a:spcPts val="300"/>
              </a:spcBef>
              <a:defRPr sz="1300">
                <a:solidFill>
                  <a:srgbClr val="CCCCCC"/>
                </a:solidFill>
                <a:latin typeface="Segoe UI"/>
              </a:defRPr>
            </a:pPr>
            <a:r>
              <a:t>  Boolean adjacency matrix (seq_len x seq_len) on GPU</a:t>
            </a:r>
          </a:p>
          <a:p>
            <a:pPr>
              <a:spcBef>
                <a:spcPts val="300"/>
              </a:spcBef>
              <a:defRPr sz="1300">
                <a:solidFill>
                  <a:srgbClr val="CCCCCC"/>
                </a:solidFill>
                <a:latin typeface="Segoe UI"/>
              </a:defRPr>
            </a:pPr>
            <a:r>
              <a:t>  Edge (i, j) = "position i must unmask before j"</a:t>
            </a:r>
          </a:p>
          <a:p>
            <a:pPr>
              <a:spcBef>
                <a:spcPts val="300"/>
              </a:spcBef>
              <a:defRPr sz="1300">
                <a:solidFill>
                  <a:srgbClr val="CCCCCC"/>
                </a:solidFill>
                <a:latin typeface="Segoe UI"/>
              </a:defRPr>
            </a:pPr>
            <a:r>
              <a:t>  ready_positions(): single batched matrix operation</a:t>
            </a:r>
          </a:p>
          <a:p>
            <a:pPr>
              <a:spcBef>
                <a:spcPts val="300"/>
              </a:spcBef>
              <a:defRPr sz="1300">
                <a:solidFill>
                  <a:srgbClr val="CCCCCC"/>
                </a:solidFill>
                <a:latin typeface="Segoe UI"/>
              </a:defRPr>
            </a:pPr>
            <a:r>
              <a:t>  Constructors: empty(), linear_chain(), from_edges(), from_levels()</a:t>
            </a:r>
          </a:p>
          <a:p>
            <a:pPr>
              <a:spcBef>
                <a:spcPts val="300"/>
              </a:spcBef>
              <a:defRPr sz="1300">
                <a:solidFill>
                  <a:srgbClr val="CCCCCC"/>
                </a:solidFill>
                <a:latin typeface="Segoe UI"/>
              </a:defRPr>
            </a:pPr>
            <a:r>
              <a:t>  Mutations: add_edges(), remove_edges(), mutate()</a:t>
            </a:r>
          </a:p>
          <a:p>
            <a:pPr>
              <a:spcBef>
                <a:spcPts val="300"/>
              </a:spcBef>
              <a:defRPr sz="1300">
                <a:solidFill>
                  <a:srgbClr val="CCCCCC"/>
                </a:solidFill>
                <a:latin typeface="Segoe UI"/>
              </a:defRPr>
            </a:pPr>
            <a:r>
              <a:t>  Analysis: topological_levels(), depth(), transitive_closure()</a:t>
            </a:r>
          </a:p>
          <a:p>
            <a:pPr>
              <a:spcBef>
                <a:spcPts val="300"/>
              </a:spcBef>
              <a:defRPr sz="1300">
                <a:solidFill>
                  <a:srgbClr val="CCCCCC"/>
                </a:solidFill>
                <a:latin typeface="Segoe UI"/>
              </a:defRPr>
            </a:pPr>
            <a:r>
              <a:t>  Validation: is_valid() checks acyclicity</a:t>
            </a:r>
          </a:p>
          <a:p>
            <a:pPr>
              <a:spcBef>
                <a:spcPts val="300"/>
              </a:spcBef>
              <a:defRPr sz="1300">
                <a:solidFill>
                  <a:srgbClr val="CCCCCC"/>
                </a:solidFill>
                <a:latin typeface="Segoe UI"/>
              </a:defRPr>
            </a:pPr>
            <a:r>
              <a:t>  to_mask_schedule(num_steps): distributes levels across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69CD6"/>
                </a:solidFill>
                <a:latin typeface="Segoe UI"/>
              </a:defRPr>
            </a:pPr>
            <a:r>
              <a:t>6 Predefined Templates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737360"/>
            <a:ext cx="2011680" cy="320040"/>
          </a:xfrm>
          <a:prstGeom prst="roundRect">
            <a:avLst/>
          </a:prstGeom>
          <a:solidFill>
            <a:srgbClr val="2D6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Chain-of-Thought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0" y="1691639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Segoe UI"/>
              </a:defRPr>
            </a:pPr>
            <a:r>
              <a:t>Sequential reasoning steps</a:t>
            </a:r>
            <a:br/>
            <a:r>
              <a:t>Parallel within each step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2542032"/>
            <a:ext cx="2011680" cy="320040"/>
          </a:xfrm>
          <a:prstGeom prst="roundRect">
            <a:avLst/>
          </a:prstGeom>
          <a:solidFill>
            <a:srgbClr val="2D6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Answer-First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2496312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Segoe UI"/>
              </a:defRPr>
            </a:pPr>
            <a:r>
              <a:t>Answer tokens unmask first</a:t>
            </a:r>
            <a:br/>
            <a:r>
              <a:t>Reasoning fills in after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3346704"/>
            <a:ext cx="2011680" cy="320040"/>
          </a:xfrm>
          <a:prstGeom prst="roundRect">
            <a:avLst/>
          </a:prstGeom>
          <a:solidFill>
            <a:srgbClr val="2D6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Skeleton-Detail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3300984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Segoe UI"/>
              </a:defRPr>
            </a:pPr>
            <a:r>
              <a:t>Structure tokens first</a:t>
            </a:r>
            <a:br/>
            <a:r>
              <a:t>Content tokens second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4151376"/>
            <a:ext cx="2011680" cy="320040"/>
          </a:xfrm>
          <a:prstGeom prst="roundRect">
            <a:avLst/>
          </a:prstGeom>
          <a:solidFill>
            <a:srgbClr val="2D6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Bidirectional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4105656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Segoe UI"/>
              </a:defRPr>
            </a:pPr>
            <a:r>
              <a:t>Forward + backward passes</a:t>
            </a:r>
            <a:br/>
            <a:r>
              <a:t>Meet in middle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4956048"/>
            <a:ext cx="2011680" cy="320040"/>
          </a:xfrm>
          <a:prstGeom prst="roundRect">
            <a:avLst/>
          </a:prstGeom>
          <a:solidFill>
            <a:srgbClr val="2D6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Interleaved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4910328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Segoe UI"/>
              </a:defRPr>
            </a:pPr>
            <a:r>
              <a:t>Alternating position groups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5760720"/>
            <a:ext cx="2011680" cy="320040"/>
          </a:xfrm>
          <a:prstGeom prst="roundRect">
            <a:avLst/>
          </a:prstGeom>
          <a:solidFill>
            <a:srgbClr val="2D6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Random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57150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Segoe UI"/>
              </a:defRPr>
            </a:pPr>
            <a:r>
              <a:t>Random edges with given density</a:t>
            </a:r>
            <a:br/>
            <a:r>
              <a:t>Baseline for comparison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EC9B0"/>
                </a:solidFill>
                <a:latin typeface="Segoe UI"/>
              </a:defRPr>
            </a:pPr>
            <a:r>
              <a:t>DAG Structure 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Automatically discover optimal DAG structures that maximize reasoning accuracy.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011680"/>
            <a:ext cx="2651760" cy="731520"/>
          </a:xfrm>
          <a:prstGeom prst="roundRect">
            <a:avLst/>
          </a:prstGeom>
          <a:solidFill>
            <a:srgbClr val="7A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Evolutionary</a:t>
            </a:r>
            <a:br/>
            <a:r>
              <a:t>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88036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Segoe UI"/>
              </a:defRPr>
            </a:pPr>
            <a:r>
              <a:t>Population-based optimization</a:t>
            </a:r>
            <a:br/>
            <a:r>
              <a:t>Tournament selection + crossover</a:t>
            </a:r>
            <a:br/>
            <a:r>
              <a:t>Topological mutation</a:t>
            </a:r>
            <a:br/>
            <a:r>
              <a:t>Library seed + writeback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2011680"/>
            <a:ext cx="2651760" cy="731520"/>
          </a:xfrm>
          <a:prstGeom prst="roundRect">
            <a:avLst/>
          </a:prstGeom>
          <a:solidFill>
            <a:srgbClr val="3A6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Greedy Edge</a:t>
            </a:r>
            <a:br/>
            <a:r>
              <a:t>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288036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Segoe UI"/>
              </a:defRPr>
            </a:pPr>
            <a:r>
              <a:t>Add/remove single edges</a:t>
            </a:r>
            <a:br/>
            <a:r>
              <a:t>Keep best improvement</a:t>
            </a:r>
            <a:br/>
            <a:r>
              <a:t>Patience-based early stop</a:t>
            </a:r>
            <a:br/>
            <a:r>
              <a:t>Library writeback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59" y="2011680"/>
            <a:ext cx="2651760" cy="731520"/>
          </a:xfrm>
          <a:prstGeom prst="roundRect">
            <a:avLst/>
          </a:prstGeom>
          <a:solidFill>
            <a:srgbClr val="5A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RL Policy</a:t>
            </a:r>
            <a:br/>
            <a:r>
              <a:t>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88036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Segoe UI"/>
              </a:defRPr>
            </a:pPr>
            <a:r>
              <a:t>DAGPolicyNetwork</a:t>
            </a:r>
            <a:br/>
            <a:r>
              <a:t>REINFORCE training</a:t>
            </a:r>
            <a:br/>
            <a:r>
              <a:t>Learns edge probabilities</a:t>
            </a:r>
            <a:br/>
            <a:r>
              <a:t>End-to-end optimization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89719" y="2011680"/>
            <a:ext cx="2651760" cy="731520"/>
          </a:xfrm>
          <a:prstGeom prst="roundRect">
            <a:avLst/>
          </a:prstGeom>
          <a:solidFill>
            <a:srgbClr val="3A5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Differentiable</a:t>
            </a:r>
            <a:br/>
            <a:r>
              <a:t>(NOTEARS)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288036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Segoe UI"/>
              </a:defRPr>
            </a:pPr>
            <a:r>
              <a:t>Continuous relaxation</a:t>
            </a:r>
            <a:br/>
            <a:r>
              <a:t>Gradient-based optimization</a:t>
            </a:r>
            <a:br/>
            <a:r>
              <a:t>Acyclicity constraint via</a:t>
            </a:r>
            <a:br/>
            <a:r>
              <a:t>trace exponential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846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69CD6"/>
                </a:solidFill>
                <a:latin typeface="Segoe UI"/>
              </a:defRPr>
            </a:pPr>
            <a:r>
              <a:t>Fitness Functions:</a:t>
            </a:r>
          </a:p>
          <a:p>
            <a:pPr>
              <a:spcBef>
                <a:spcPts val="600"/>
              </a:spcBef>
              <a:defRPr sz="1300" b="0">
                <a:solidFill>
                  <a:srgbClr val="CCCCCC"/>
                </a:solidFill>
                <a:latin typeface="Segoe UI"/>
              </a:defRPr>
            </a:pPr>
            <a:r>
              <a:t>accuracy_fitness()  — DAGScheduler -&gt; Sampler -&gt; answer extraction -&gt; EM</a:t>
            </a:r>
          </a:p>
          <a:p>
            <a:pPr>
              <a:spcBef>
                <a:spcPts val="600"/>
              </a:spcBef>
              <a:defRPr sz="1300" b="0">
                <a:solidFill>
                  <a:srgbClr val="CCCCCC"/>
                </a:solidFill>
                <a:latin typeface="Segoe UI"/>
              </a:defRPr>
            </a:pPr>
            <a:r>
              <a:t>perplexity_fitness()  |  combined_fitness()  — multi-signal composite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EC9B0"/>
                </a:solidFill>
                <a:latin typeface="Segoe UI"/>
              </a:defRPr>
            </a:pPr>
            <a:r>
              <a:t>DAG Library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Persistent storage, retrieval, and feedback for DAG structures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1645920" cy="548640"/>
          </a:xfrm>
          <a:prstGeom prst="roundRect">
            <a:avLst/>
          </a:prstGeom>
          <a:solidFill>
            <a:srgbClr val="2D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DAGStore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155448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SQLite + FAISS</a:t>
            </a:r>
            <a:br/>
            <a:r>
              <a:t>CRUD, filtered queries, vector search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60320"/>
            <a:ext cx="1645920" cy="548640"/>
          </a:xfrm>
          <a:prstGeom prst="roundRect">
            <a:avLst/>
          </a:prstGeom>
          <a:solidFill>
            <a:srgbClr val="4A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Retrieval</a:t>
            </a:r>
            <a:br/>
            <a:r>
              <a:t>3 Channels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256032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Semantic (embedding similarity)</a:t>
            </a:r>
            <a:br/>
            <a:r>
              <a:t>Structural (edit distance / spectral)</a:t>
            </a:r>
            <a:br/>
            <a:r>
              <a:t>Performance (benchmark scores)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566160"/>
            <a:ext cx="1645920" cy="548640"/>
          </a:xfrm>
          <a:prstGeom prst="roundRect">
            <a:avLst/>
          </a:prstGeom>
          <a:solidFill>
            <a:srgbClr val="2D6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Fusion</a:t>
            </a:r>
            <a:br/>
            <a:r>
              <a:t>4 Strategies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356616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Weighted | RRF | Max | Voting</a:t>
            </a:r>
            <a:br/>
            <a:r>
              <a:t>Combines multi-channel rankings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572000"/>
            <a:ext cx="1645920" cy="548640"/>
          </a:xfrm>
          <a:prstGeom prst="roundRect">
            <a:avLst/>
          </a:prstGeom>
          <a:solidFill>
            <a:srgbClr val="6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Feedback</a:t>
            </a:r>
            <a:br/>
            <a:r>
              <a:t>3 Sources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45720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Auto (benchmark accuracy)</a:t>
            </a:r>
            <a:br/>
            <a:r>
              <a:t>Human (quality ratings)</a:t>
            </a:r>
            <a:br/>
            <a:r>
              <a:t>Elo (tournament ranking)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577840"/>
            <a:ext cx="1645920" cy="548640"/>
          </a:xfrm>
          <a:prstGeom prst="roundRect">
            <a:avLst/>
          </a:prstGeom>
          <a:solidFill>
            <a:srgbClr val="5A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Merge</a:t>
            </a:r>
            <a:br/>
            <a:r>
              <a:t>3 Strategies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557784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Union | Intersection | Weighted</a:t>
            </a:r>
            <a:br/>
            <a:r>
              <a:t>Acyclicity enforcement built-in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08A40"/>
                </a:solidFill>
                <a:latin typeface="Segoe UI"/>
              </a:defRPr>
            </a:pPr>
            <a:r>
              <a:t>Ablation Configs (7 YAML)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0116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CCCCCC"/>
                </a:solidFill>
                <a:latin typeface="Segoe UI"/>
              </a:defRPr>
            </a:pPr>
            <a:r>
              <a:t>  default.yaml — all components enabled</a:t>
            </a:r>
          </a:p>
          <a:p>
            <a:pPr>
              <a:spcBef>
                <a:spcPts val="300"/>
              </a:spcBef>
              <a:defRPr sz="1200">
                <a:solidFill>
                  <a:srgbClr val="CCCCCC"/>
                </a:solidFill>
                <a:latin typeface="Segoe UI"/>
              </a:defRPr>
            </a:pPr>
            <a:r>
              <a:t>  disabled.yaml — library completely off (baseline)</a:t>
            </a:r>
          </a:p>
          <a:p>
            <a:pPr>
              <a:spcBef>
                <a:spcPts val="300"/>
              </a:spcBef>
              <a:defRPr sz="1200">
                <a:solidFill>
                  <a:srgbClr val="CCCCCC"/>
                </a:solidFill>
                <a:latin typeface="Segoe UI"/>
              </a:defRPr>
            </a:pPr>
            <a:r>
              <a:t>  no_retrieval.yaml — storage + feedback only</a:t>
            </a:r>
          </a:p>
          <a:p>
            <a:pPr>
              <a:spcBef>
                <a:spcPts val="300"/>
              </a:spcBef>
              <a:defRPr sz="1200">
                <a:solidFill>
                  <a:srgbClr val="CCCCCC"/>
                </a:solidFill>
                <a:latin typeface="Segoe UI"/>
              </a:defRPr>
            </a:pPr>
            <a:r>
              <a:t>  semantic_only.yaml — single retrieval channel</a:t>
            </a:r>
          </a:p>
          <a:p>
            <a:pPr>
              <a:spcBef>
                <a:spcPts val="300"/>
              </a:spcBef>
              <a:defRPr sz="1200">
                <a:solidFill>
                  <a:srgbClr val="CCCCCC"/>
                </a:solidFill>
                <a:latin typeface="Segoe UI"/>
              </a:defRPr>
            </a:pPr>
            <a:r>
              <a:t>  no_elo.yaml — auto feedback only, no Elo</a:t>
            </a:r>
          </a:p>
          <a:p>
            <a:pPr>
              <a:spcBef>
                <a:spcPts val="300"/>
              </a:spcBef>
              <a:defRPr sz="1200">
                <a:solidFill>
                  <a:srgbClr val="CCCCCC"/>
                </a:solidFill>
                <a:latin typeface="Segoe UI"/>
              </a:defRPr>
            </a:pPr>
            <a:r>
              <a:t>  soft_constraint.yaml — soft vs hard DAG enforcement</a:t>
            </a:r>
          </a:p>
          <a:p>
            <a:pPr>
              <a:spcBef>
                <a:spcPts val="300"/>
              </a:spcBef>
              <a:defRPr sz="1200">
                <a:solidFill>
                  <a:srgbClr val="CCCCCC"/>
                </a:solidFill>
                <a:latin typeface="Segoe UI"/>
              </a:defRPr>
            </a:pPr>
            <a:r>
              <a:t>  rrf_fusion.yaml — RRF vs weighted fusion</a:t>
            </a:r>
          </a:p>
          <a:p>
            <a:pPr>
              <a:spcBef>
                <a:spcPts val="1200"/>
              </a:spcBef>
              <a:defRPr sz="600" b="0">
                <a:solidFill>
                  <a:srgbClr val="CCCCCC"/>
                </a:solidFill>
                <a:latin typeface="Segoe UI"/>
              </a:defRPr>
            </a:pPr>
          </a:p>
          <a:p>
            <a:pPr>
              <a:spcBef>
                <a:spcPts val="800"/>
              </a:spcBef>
              <a:defRPr sz="1400" b="1">
                <a:solidFill>
                  <a:srgbClr val="4EC9B0"/>
                </a:solidFill>
                <a:latin typeface="Segoe UI"/>
              </a:defRPr>
            </a:pPr>
            <a:r>
              <a:t>Every component independently toggleable.</a:t>
            </a:r>
          </a:p>
          <a:p>
            <a:pPr>
              <a:spcBef>
                <a:spcPts val="400"/>
              </a:spcBef>
              <a:defRPr sz="1400" b="0">
                <a:solidFill>
                  <a:srgbClr val="DCDCAA"/>
                </a:solidFill>
                <a:latin typeface="Segoe UI"/>
              </a:defRPr>
            </a:pPr>
            <a:r>
              <a:t>Supports isolated variable experiments.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EC9B0"/>
                </a:solidFill>
                <a:latin typeface="Segoe UI"/>
              </a:defRPr>
            </a:pPr>
            <a:r>
              <a:t>Search ↔ Library Integration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2286000" cy="1097280"/>
          </a:xfrm>
          <a:prstGeom prst="roundRect">
            <a:avLst/>
          </a:prstGeom>
          <a:solidFill>
            <a:srgbClr val="2D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DAG Library</a:t>
            </a:r>
            <a:br/>
            <a:br/>
            <a:r>
              <a:t>SQLite + FAISS</a:t>
            </a:r>
            <a:br/>
            <a:r>
              <a:t>Historical DAGs</a:t>
            </a:r>
            <a:br/>
            <a:r>
              <a:t>+ Metadata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0" y="1828800"/>
            <a:ext cx="2743200" cy="1097280"/>
          </a:xfrm>
          <a:prstGeom prst="roundRect">
            <a:avLst/>
          </a:prstGeom>
          <a:solidFill>
            <a:srgbClr val="5A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DAG Search</a:t>
            </a:r>
            <a:br/>
            <a:br/>
            <a:r>
              <a:t>Evolutionary / Greedy</a:t>
            </a:r>
            <a:br/>
            <a:r>
              <a:t>Seed from library</a:t>
            </a:r>
            <a:br/>
            <a:r>
              <a:t>Evolve population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828800"/>
            <a:ext cx="2743200" cy="1097280"/>
          </a:xfrm>
          <a:prstGeom prst="roundRect">
            <a:avLst/>
          </a:prstGeom>
          <a:solidFill>
            <a:srgbClr val="2D6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Evaluation</a:t>
            </a:r>
            <a:br/>
            <a:br/>
            <a:r>
              <a:t>Model + DAGScheduler</a:t>
            </a:r>
            <a:br/>
            <a:r>
              <a:t>Benchmark accuracy</a:t>
            </a:r>
            <a:br/>
            <a:r>
              <a:t>Fitness score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063240" y="2240280"/>
            <a:ext cx="1005840" cy="274320"/>
          </a:xfrm>
          <a:prstGeom prst="rightArrow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ight Arrow 6"/>
          <p:cNvSpPr/>
          <p:nvPr/>
        </p:nvSpPr>
        <p:spPr>
          <a:xfrm>
            <a:off x="6903720" y="2240280"/>
            <a:ext cx="1097280" cy="274320"/>
          </a:xfrm>
          <a:prstGeom prst="rightArrow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3200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08A40"/>
                </a:solidFill>
                <a:latin typeface="Segoe UI"/>
              </a:defRPr>
            </a:pPr>
            <a:r>
              <a:t>← writeback best DAG + fitness to library 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31920"/>
            <a:ext cx="10058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69CD6"/>
                </a:solidFill>
                <a:latin typeface="Segoe UI"/>
              </a:defRPr>
            </a:pPr>
            <a:r>
              <a:t>Seed Phase (Library → Search)</a:t>
            </a:r>
          </a:p>
          <a:p>
            <a:pPr>
              <a:spcBef>
                <a:spcPts val="300"/>
              </a:spcBef>
              <a:defRPr sz="1300">
                <a:solidFill>
                  <a:srgbClr val="CCCCCC"/>
                </a:solidFill>
                <a:latin typeface="Segoe UI"/>
              </a:defRPr>
            </a:pPr>
            <a:r>
              <a:t>  Retrieve semantically similar DAGs by task description</a:t>
            </a:r>
          </a:p>
          <a:p>
            <a:pPr>
              <a:spcBef>
                <a:spcPts val="300"/>
              </a:spcBef>
              <a:defRPr sz="1300">
                <a:solidFill>
                  <a:srgbClr val="CCCCCC"/>
                </a:solidFill>
                <a:latin typeface="Segoe UI"/>
              </a:defRPr>
            </a:pPr>
            <a:r>
              <a:t>  Pull top-performing DAGs from performance channel</a:t>
            </a:r>
          </a:p>
          <a:p>
            <a:pPr>
              <a:spcBef>
                <a:spcPts val="300"/>
              </a:spcBef>
              <a:defRPr sz="1300">
                <a:solidFill>
                  <a:srgbClr val="CCCCCC"/>
                </a:solidFill>
                <a:latin typeface="Segoe UI"/>
              </a:defRPr>
            </a:pPr>
            <a:r>
              <a:t>  Fill at most half the initial population from library, rest random</a:t>
            </a:r>
          </a:p>
          <a:p>
            <a:pPr>
              <a:spcBef>
                <a:spcPts val="1200"/>
              </a:spcBef>
              <a:defRPr sz="1600" b="1">
                <a:solidFill>
                  <a:srgbClr val="569CD6"/>
                </a:solidFill>
                <a:latin typeface="Segoe UI"/>
              </a:defRPr>
            </a:pPr>
            <a:r>
              <a:t>Writeback Phase (Search → Library)</a:t>
            </a:r>
          </a:p>
          <a:p>
            <a:pPr>
              <a:spcBef>
                <a:spcPts val="300"/>
              </a:spcBef>
              <a:defRPr sz="1300">
                <a:solidFill>
                  <a:srgbClr val="CCCCCC"/>
                </a:solidFill>
                <a:latin typeface="Segoe UI"/>
              </a:defRPr>
            </a:pPr>
            <a:r>
              <a:t>  Best DAG automatically stored with source='search', method, fitness score</a:t>
            </a:r>
          </a:p>
          <a:p>
            <a:pPr>
              <a:spcBef>
                <a:spcPts val="300"/>
              </a:spcBef>
              <a:defRPr sz="1300">
                <a:solidFill>
                  <a:srgbClr val="CCCCCC"/>
                </a:solidFill>
                <a:latin typeface="Segoe UI"/>
              </a:defRPr>
            </a:pPr>
            <a:r>
              <a:t>  Available for future searches — library evolves over time</a:t>
            </a:r>
          </a:p>
          <a:p>
            <a:pPr>
              <a:spcBef>
                <a:spcPts val="300"/>
              </a:spcBef>
              <a:defRPr sz="1300">
                <a:solidFill>
                  <a:srgbClr val="CCCCCC"/>
                </a:solidFill>
                <a:latin typeface="Segoe UI"/>
              </a:defRPr>
            </a:pPr>
            <a:r>
              <a:t>  Supports both evolutionary and greedy search methods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EC9B0"/>
                </a:solidFill>
                <a:latin typeface="Segoe UI"/>
              </a:defRPr>
            </a:pPr>
            <a:r>
              <a:t>Training &amp;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69CD6"/>
                </a:solidFill>
                <a:latin typeface="Segoe UI"/>
              </a:defRPr>
            </a:pPr>
            <a:r>
              <a:t>4 Training Pipelines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1828800" cy="365760"/>
          </a:xfrm>
          <a:prstGeom prst="roundRect">
            <a:avLst/>
          </a:prstGeom>
          <a:solidFill>
            <a:srgbClr val="3A5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Pretraining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691639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Standard dLLM pretraining</a:t>
            </a:r>
            <a:br/>
            <a:r>
              <a:t>ELBO (MDLM), score-entropy (SEDD), VLB+CE (D3PM)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88920"/>
            <a:ext cx="1828800" cy="365760"/>
          </a:xfrm>
          <a:prstGeom prst="roundRect">
            <a:avLst/>
          </a:prstGeom>
          <a:solidFill>
            <a:srgbClr val="3A5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DAG-Aware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27432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Biases masking by topological level</a:t>
            </a:r>
            <a:br/>
            <a:r>
              <a:t>Closes train-inference distribution gap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79"/>
            <a:ext cx="1828800" cy="365760"/>
          </a:xfrm>
          <a:prstGeom prst="roundRect">
            <a:avLst/>
          </a:prstGeom>
          <a:solidFill>
            <a:srgbClr val="3A5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Fine-tuning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3794759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Answer-only loss</a:t>
            </a:r>
            <a:br/>
            <a:r>
              <a:t>Freeze backbone, train on answers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892040"/>
            <a:ext cx="1828800" cy="365760"/>
          </a:xfrm>
          <a:prstGeom prst="roundRect">
            <a:avLst/>
          </a:prstGeom>
          <a:solidFill>
            <a:srgbClr val="3A5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Diffu-GRPO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484632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RL fine-tuning with GRPO</a:t>
            </a:r>
            <a:br/>
            <a:r>
              <a:t>Optimize for downstream task reward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69CD6"/>
                </a:solidFill>
                <a:latin typeface="Segoe UI"/>
              </a:defRPr>
            </a:pPr>
            <a:r>
              <a:t>8 Benchmarks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1737360"/>
            <a:ext cx="1645920" cy="365760"/>
          </a:xfrm>
          <a:prstGeom prst="roundRect">
            <a:avLst/>
          </a:prstGeom>
          <a:solidFill>
            <a:srgbClr val="2D6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Code Gen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1691639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MBPP, HumanEval</a:t>
            </a:r>
            <a:br/>
            <a:r>
              <a:t>Metric: pass@1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2651760"/>
            <a:ext cx="1645920" cy="365760"/>
          </a:xfrm>
          <a:prstGeom prst="roundRect">
            <a:avLst/>
          </a:prstGeom>
          <a:solidFill>
            <a:srgbClr val="2D6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Math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60604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GSM8K, MATH</a:t>
            </a:r>
            <a:br/>
            <a:r>
              <a:t>Metric: exact match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3566160"/>
            <a:ext cx="1645920" cy="365760"/>
          </a:xfrm>
          <a:prstGeom prst="roundRect">
            <a:avLst/>
          </a:prstGeom>
          <a:solidFill>
            <a:srgbClr val="2D6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QA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52044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HotpotQA</a:t>
            </a:r>
            <a:br/>
            <a:r>
              <a:t>Metric: exact match, F1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0" y="4480560"/>
            <a:ext cx="1645920" cy="365760"/>
          </a:xfrm>
          <a:prstGeom prst="roundRect">
            <a:avLst/>
          </a:prstGeom>
          <a:solidFill>
            <a:srgbClr val="2D6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Knowledge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443484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MMLU</a:t>
            </a:r>
            <a:br/>
            <a:r>
              <a:t>Metric: accuracy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0" y="5394960"/>
            <a:ext cx="1645920" cy="365760"/>
          </a:xfrm>
          <a:prstGeom prst="roundRect">
            <a:avLst/>
          </a:prstGeom>
          <a:solidFill>
            <a:srgbClr val="2D6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Logic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534924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ARC-Challenge, ProntoQA</a:t>
            </a:r>
            <a:br/>
            <a:r>
              <a:t>Metric: accuracy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EC9B0"/>
                </a:solidFill>
                <a:latin typeface="Segoe UI"/>
              </a:defRPr>
            </a:pPr>
            <a:r>
              <a:t>Project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69CD6"/>
                </a:solidFill>
                <a:latin typeface="Segoe UI"/>
              </a:defRPr>
            </a:pPr>
            <a: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Python 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16459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CDCAA"/>
                </a:solidFill>
                <a:latin typeface="Segoe UI"/>
              </a:defRPr>
            </a:pPr>
            <a:r>
              <a:t>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Lines of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21031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CDCAA"/>
                </a:solidFill>
                <a:latin typeface="Segoe UI"/>
              </a:defRPr>
            </a:pPr>
            <a:r>
              <a:t>~9,200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Config Files (YAML)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2560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CDCAA"/>
                </a:solidFill>
                <a:latin typeface="Segoe UI"/>
              </a:defRPr>
            </a:pPr>
            <a:r>
              <a:t>31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17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Test Cases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3017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CDCAA"/>
                </a:solidFill>
                <a:latin typeface="Segoe UI"/>
              </a:defRPr>
            </a:pPr>
            <a:r>
              <a:t>60+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74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Notebooks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34747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CDCAA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931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CLI Entry Points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39319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CDCAA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1645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dLLM Models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16459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CDCAA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103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Unmasking Schedulers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21031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CDCAA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560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DAG Templates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2560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CDCAA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3017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Search Methods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3017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CDCAA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3474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Library Components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34747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CDCAA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3931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Ablation Configs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39319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CDCAA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1097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69CD6"/>
                </a:solidFill>
                <a:latin typeface="Segoe UI"/>
              </a:defRPr>
            </a:pPr>
            <a:r>
              <a:t>CLI Commands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164592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DCDCAA"/>
                </a:solidFill>
                <a:latin typeface="Segoe UI"/>
              </a:defRPr>
            </a:pPr>
            <a:r>
              <a:t>dllm-train      # Train models</a:t>
            </a:r>
          </a:p>
          <a:p>
            <a:pPr>
              <a:spcBef>
                <a:spcPts val="300"/>
              </a:spcBef>
              <a:defRPr sz="1200">
                <a:solidFill>
                  <a:srgbClr val="DCDCAA"/>
                </a:solidFill>
                <a:latin typeface="Segoe UI"/>
              </a:defRPr>
            </a:pPr>
            <a:r>
              <a:t>dllm-eval       # Evaluate with schedulers</a:t>
            </a:r>
          </a:p>
          <a:p>
            <a:pPr>
              <a:spcBef>
                <a:spcPts val="300"/>
              </a:spcBef>
              <a:defRPr sz="1200">
                <a:solidFill>
                  <a:srgbClr val="DCDCAA"/>
                </a:solidFill>
                <a:latin typeface="Segoe UI"/>
              </a:defRPr>
            </a:pPr>
            <a:r>
              <a:t>dllm-eval-dags  # LLaDA + DAG strategies</a:t>
            </a:r>
          </a:p>
          <a:p>
            <a:pPr>
              <a:spcBef>
                <a:spcPts val="300"/>
              </a:spcBef>
              <a:defRPr sz="1200">
                <a:solidFill>
                  <a:srgbClr val="DCDCAA"/>
                </a:solidFill>
                <a:latin typeface="Segoe UI"/>
              </a:defRPr>
            </a:pPr>
            <a:r>
              <a:t>dllm-search     # Search optimal DAGs</a:t>
            </a:r>
          </a:p>
          <a:p>
            <a:pPr>
              <a:spcBef>
                <a:spcPts val="300"/>
              </a:spcBef>
              <a:defRPr sz="1200">
                <a:solidFill>
                  <a:srgbClr val="DCDCAA"/>
                </a:solidFill>
                <a:latin typeface="Segoe UI"/>
              </a:defRPr>
            </a:pPr>
            <a:r>
              <a:t>dllm-viz        # Visualize DAG structures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840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69CD6"/>
                </a:solidFill>
                <a:latin typeface="Segoe UI"/>
              </a:defRPr>
            </a:pPr>
            <a:r>
              <a:t>Quick Start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438912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DCDCAA"/>
                </a:solidFill>
                <a:latin typeface="Segoe UI"/>
              </a:defRPr>
            </a:pPr>
            <a:r>
              <a:t>pip install -e '.[dev,library]'</a:t>
            </a:r>
          </a:p>
          <a:p>
            <a:pPr>
              <a:spcBef>
                <a:spcPts val="300"/>
              </a:spcBef>
              <a:defRPr sz="1200">
                <a:solidFill>
                  <a:srgbClr val="CCCCCC"/>
                </a:solidFill>
                <a:latin typeface="Segoe UI"/>
              </a:defRPr>
            </a:pPr>
            <a:r>
              <a:t>dllm-train --model mdlm --dataset gsm8k</a:t>
            </a:r>
          </a:p>
          <a:p>
            <a:pPr>
              <a:spcBef>
                <a:spcPts val="300"/>
              </a:spcBef>
              <a:defRPr sz="1200">
                <a:solidFill>
                  <a:srgbClr val="CCCCCC"/>
                </a:solidFill>
                <a:latin typeface="Segoe UI"/>
              </a:defRPr>
            </a:pPr>
            <a:r>
              <a:t>dllm-eval-dags --dags cot skeleton</a:t>
            </a:r>
          </a:p>
          <a:p>
            <a:pPr>
              <a:spcBef>
                <a:spcPts val="300"/>
              </a:spcBef>
              <a:defRPr sz="1200">
                <a:solidFill>
                  <a:srgbClr val="CCCCCC"/>
                </a:solidFill>
                <a:latin typeface="Segoe UI"/>
              </a:defRPr>
            </a:pPr>
            <a:r>
              <a:t>dllm-search --method evolutionary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